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E4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sijil-comp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51560"/>
            <a:ext cx="3864244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20640" y="1463040"/>
            <a:ext cx="658368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 i="0">
                <a:solidFill>
                  <a:srgbClr val="0E4377"/>
                </a:solidFill>
                <a:latin typeface="Calibri"/>
              </a:rPr>
              <a:t>Gestion du temps de travail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2743200"/>
            <a:ext cx="65836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1" i="0">
                <a:solidFill>
                  <a:srgbClr val="2FB5B4"/>
                </a:solidFill>
                <a:latin typeface="Calibri"/>
              </a:rPr>
              <a:t>avec prise en charge des rotations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3383280"/>
            <a:ext cx="640080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 i="0">
                <a:solidFill>
                  <a:srgbClr val="12263A"/>
                </a:solidFill>
                <a:latin typeface="Calibri"/>
              </a:rPr>
              <a:t>La mise à disposition du personnel et du matériel de prestation de services, de A à Z : du bordereau des prix jusqu'à l'attachement et à la facture (module facturation activable par l'administrateur).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4937760"/>
            <a:ext cx="6400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16598D"/>
                </a:solidFill>
                <a:latin typeface="Calibri"/>
              </a:rPr>
              <a:t>En français, en arabe et en anglais · sur ordinateur et sur téléphone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603504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6B7785"/>
                </a:solidFill>
                <a:latin typeface="Calibri"/>
              </a:rPr>
              <a:t>Version 3.41.0 · Octobre 2026 · Captures : entreprise fictive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B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 i="0">
                <a:solidFill>
                  <a:srgbClr val="0E4377"/>
                </a:solidFill>
                <a:latin typeface="Calibri"/>
              </a:rPr>
              <a:t>Un personnel en rotation, c'est vite le désordre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6B7785"/>
                </a:solidFill>
                <a:latin typeface="Calibri"/>
              </a:rPr>
              <a:t>Fichiers Excel, messages, papiers : chacun a sa 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© 2026 JawlaDev — Tous droits réservés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356616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E4377"/>
                </a:solidFill>
                <a:latin typeface="Calibri"/>
              </a:rPr>
              <a:t>Des jours oubliés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320040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2263A"/>
                </a:solidFill>
                <a:latin typeface="Calibri"/>
              </a:rPr>
              <a:t>On pointe quand on peut. Au moment de facturer, il manque des jours et personne ne sait lesquels.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737360"/>
            <a:ext cx="356616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874519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E4377"/>
                </a:solidFill>
                <a:latin typeface="Calibri"/>
              </a:rPr>
              <a:t>Des calculs à la 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423160"/>
            <a:ext cx="320040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2263A"/>
                </a:solidFill>
                <a:latin typeface="Calibri"/>
              </a:rPr>
              <a:t>Soldes de congé, dates de reprise, quantités de l'attachement : chaque calcul est une occasion d'erreur.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737360"/>
            <a:ext cx="356616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874519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E4377"/>
                </a:solidFill>
                <a:latin typeface="Calibri"/>
              </a:rPr>
              <a:t>Des documents perdus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423160"/>
            <a:ext cx="320040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2263A"/>
                </a:solidFill>
                <a:latin typeface="Calibri"/>
              </a:rPr>
              <a:t>Fiches de paie, titres de congé, attestations : dans une boîte mail, un dossier, un téléphone…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60520"/>
            <a:ext cx="356616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29768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E4377"/>
                </a:solidFill>
                <a:latin typeface="Calibri"/>
              </a:rPr>
              <a:t>Un client dans le flou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46320"/>
            <a:ext cx="3200400" cy="1234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2263A"/>
                </a:solidFill>
                <a:latin typeface="Calibri"/>
              </a:rPr>
              <a:t>Il demande « qui était présent mardi ? » et attend une réponse par mail.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4160520"/>
            <a:ext cx="356616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429768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E4377"/>
                </a:solidFill>
                <a:latin typeface="Calibri"/>
              </a:rPr>
              <a:t>Des demandes éparpillées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846320"/>
            <a:ext cx="3200400" cy="1234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2263A"/>
                </a:solidFill>
                <a:latin typeface="Calibri"/>
              </a:rPr>
              <a:t>Chaque agent écrit à son responsable, qui relaie à la direction, sans suivi.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4160520"/>
            <a:ext cx="356616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429768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E4377"/>
                </a:solidFill>
                <a:latin typeface="Calibri"/>
              </a:rPr>
              <a:t>Des prévisions impossibles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846320"/>
            <a:ext cx="3200400" cy="1234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2263A"/>
                </a:solidFill>
                <a:latin typeface="Calibri"/>
              </a:rPr>
              <a:t>Qui part en congé le mois prochain ? Qui reprend ? Il faut tout recompter.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B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 i="0">
                <a:solidFill>
                  <a:srgbClr val="0E4377"/>
                </a:solidFill>
                <a:latin typeface="Calibri"/>
              </a:rPr>
              <a:t>Sijil : un seul outil, simple, pour tout le monde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6B7785"/>
                </a:solidFill>
                <a:latin typeface="Calibri"/>
              </a:rPr>
              <a:t>Chacun voit ce qui le concerne, rien de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© 2026 JawlaDev — Tous droits réservés</a:t>
            </a:r>
          </a:p>
        </p:txBody>
      </p:sp>
      <p:pic>
        <p:nvPicPr>
          <p:cNvPr id="7" name="Picture 6" descr="12-global-mo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7589520" cy="4576034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412480" y="173736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300">
                <a:solidFill>
                  <a:srgbClr val="2FB5B4"/>
                </a:solidFill>
                <a:latin typeface="Calibri"/>
              </a:rPr>
              <a:t>● </a:t>
            </a:r>
            <a:r>
              <a:rPr sz="1700" b="1">
                <a:solidFill>
                  <a:srgbClr val="0E4377"/>
                </a:solidFill>
                <a:latin typeface="Calibri"/>
              </a:rPr>
              <a:t>Un pointage lisible</a:t>
            </a:r>
            <a:r>
              <a:rPr sz="1600">
                <a:solidFill>
                  <a:srgbClr val="12263A"/>
                </a:solidFill>
                <a:latin typeface="Calibri"/>
              </a:rPr>
              <a:t> — vert, orange, rouge</a:t>
            </a:r>
          </a:p>
          <a:p>
            <a:pPr>
              <a:spcAft>
                <a:spcPts val="1400"/>
              </a:spcAft>
            </a:pPr>
            <a:r>
              <a:rPr sz="1300">
                <a:solidFill>
                  <a:srgbClr val="2FB5B4"/>
                </a:solidFill>
                <a:latin typeface="Calibri"/>
              </a:rPr>
              <a:t>● </a:t>
            </a:r>
            <a:r>
              <a:rPr sz="1700" b="1">
                <a:solidFill>
                  <a:srgbClr val="0E4377"/>
                </a:solidFill>
                <a:latin typeface="Calibri"/>
              </a:rPr>
              <a:t>Des prévisions</a:t>
            </a:r>
            <a:r>
              <a:rPr sz="1600">
                <a:solidFill>
                  <a:srgbClr val="12263A"/>
                </a:solidFill>
                <a:latin typeface="Calibri"/>
              </a:rPr>
              <a:t> — calculées toutes seules</a:t>
            </a:r>
          </a:p>
          <a:p>
            <a:pPr>
              <a:spcAft>
                <a:spcPts val="1400"/>
              </a:spcAft>
            </a:pPr>
            <a:r>
              <a:rPr sz="1300">
                <a:solidFill>
                  <a:srgbClr val="2FB5B4"/>
                </a:solidFill>
                <a:latin typeface="Calibri"/>
              </a:rPr>
              <a:t>● </a:t>
            </a:r>
            <a:r>
              <a:rPr sz="1700" b="1">
                <a:solidFill>
                  <a:srgbClr val="0E4377"/>
                </a:solidFill>
                <a:latin typeface="Calibri"/>
              </a:rPr>
              <a:t>Un solde</a:t>
            </a:r>
            <a:r>
              <a:rPr sz="1600">
                <a:solidFill>
                  <a:srgbClr val="12263A"/>
                </a:solidFill>
                <a:latin typeface="Calibri"/>
              </a:rPr>
              <a:t> — à jour en temps réel</a:t>
            </a:r>
          </a:p>
          <a:p>
            <a:pPr>
              <a:spcAft>
                <a:spcPts val="1400"/>
              </a:spcAft>
            </a:pPr>
            <a:r>
              <a:rPr sz="1300">
                <a:solidFill>
                  <a:srgbClr val="2FB5B4"/>
                </a:solidFill>
                <a:latin typeface="Calibri"/>
              </a:rPr>
              <a:t>● </a:t>
            </a:r>
            <a:r>
              <a:rPr sz="1700" b="1">
                <a:solidFill>
                  <a:srgbClr val="0E4377"/>
                </a:solidFill>
                <a:latin typeface="Calibri"/>
              </a:rPr>
              <a:t>Un client informé</a:t>
            </a:r>
            <a:r>
              <a:rPr sz="1600">
                <a:solidFill>
                  <a:srgbClr val="12263A"/>
                </a:solidFill>
                <a:latin typeface="Calibri"/>
              </a:rPr>
              <a:t> — sans rien demander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B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 i="0">
                <a:solidFill>
                  <a:srgbClr val="0E4377"/>
                </a:solidFill>
                <a:latin typeface="Calibri"/>
              </a:rPr>
              <a:t>De A à Z : du bordereau des prix à la facture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6B7785"/>
                </a:solidFill>
                <a:latin typeface="Calibri"/>
              </a:rPr>
              <a:t>Sijil gère la mise à disposition du personnel et du matériel de prestation de services, avec les rotations, de bout en bout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© 2026 JawlaDev — Tous droits réservés</a:t>
            </a:r>
          </a:p>
        </p:txBody>
      </p:sp>
      <p:sp>
        <p:nvSpPr>
          <p:cNvPr id="7" name="Pentagon 6"/>
          <p:cNvSpPr/>
          <p:nvPr/>
        </p:nvSpPr>
        <p:spPr>
          <a:xfrm>
            <a:off x="548640" y="1828800"/>
            <a:ext cx="1783080" cy="914400"/>
          </a:xfrm>
          <a:prstGeom prst="homePlate">
            <a:avLst/>
          </a:prstGeom>
          <a:solidFill>
            <a:srgbClr val="0E4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920240"/>
            <a:ext cx="15087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1. Bordereau des prix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1783080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12263A"/>
                </a:solidFill>
                <a:latin typeface="Calibri"/>
              </a:rPr>
              <a:t>Déposé et lu automatiquement : fonctions, nombres, délais, prix</a:t>
            </a:r>
          </a:p>
        </p:txBody>
      </p:sp>
      <p:sp>
        <p:nvSpPr>
          <p:cNvPr id="10" name="Pentagon 9"/>
          <p:cNvSpPr/>
          <p:nvPr/>
        </p:nvSpPr>
        <p:spPr>
          <a:xfrm>
            <a:off x="2441448" y="1828800"/>
            <a:ext cx="1783080" cy="914400"/>
          </a:xfrm>
          <a:prstGeom prst="homePlate">
            <a:avLst/>
          </a:prstGeom>
          <a:solidFill>
            <a:srgbClr val="1659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4600" y="1920240"/>
            <a:ext cx="15087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2. Contrat et effectifs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1448" y="2926080"/>
            <a:ext cx="1783080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12263A"/>
                </a:solidFill>
                <a:latin typeface="Calibri"/>
              </a:rPr>
              <a:t>Début, durée, fin ; effectifs bornés par le contrat</a:t>
            </a:r>
          </a:p>
        </p:txBody>
      </p:sp>
      <p:sp>
        <p:nvSpPr>
          <p:cNvPr id="13" name="Pentagon 12"/>
          <p:cNvSpPr/>
          <p:nvPr/>
        </p:nvSpPr>
        <p:spPr>
          <a:xfrm>
            <a:off x="4334255" y="1828800"/>
            <a:ext cx="1783080" cy="914400"/>
          </a:xfrm>
          <a:prstGeom prst="homePlate">
            <a:avLst/>
          </a:prstGeom>
          <a:solidFill>
            <a:srgbClr val="0E4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7" y="1920240"/>
            <a:ext cx="15087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3. Agents et véhicules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4255" y="2926080"/>
            <a:ext cx="1783080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12263A"/>
                </a:solidFill>
                <a:latin typeface="Calibri"/>
              </a:rPr>
              <a:t>Affectés au contrat, accès envoyés par e-mail</a:t>
            </a:r>
          </a:p>
        </p:txBody>
      </p:sp>
      <p:sp>
        <p:nvSpPr>
          <p:cNvPr id="16" name="Pentagon 15"/>
          <p:cNvSpPr/>
          <p:nvPr/>
        </p:nvSpPr>
        <p:spPr>
          <a:xfrm>
            <a:off x="6227063" y="1828800"/>
            <a:ext cx="1783080" cy="914400"/>
          </a:xfrm>
          <a:prstGeom prst="homePlate">
            <a:avLst/>
          </a:prstGeom>
          <a:solidFill>
            <a:srgbClr val="1659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0215" y="1920240"/>
            <a:ext cx="15087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4. Pointage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7063" y="2926080"/>
            <a:ext cx="1783080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12263A"/>
                </a:solidFill>
                <a:latin typeface="Calibri"/>
              </a:rPr>
              <a:t>Jour après jour, avec prévisions, congés, soldes et documents</a:t>
            </a:r>
          </a:p>
        </p:txBody>
      </p:sp>
      <p:sp>
        <p:nvSpPr>
          <p:cNvPr id="19" name="Pentagon 18"/>
          <p:cNvSpPr/>
          <p:nvPr/>
        </p:nvSpPr>
        <p:spPr>
          <a:xfrm>
            <a:off x="8119871" y="1828800"/>
            <a:ext cx="1783080" cy="914400"/>
          </a:xfrm>
          <a:prstGeom prst="homePlate">
            <a:avLst/>
          </a:prstGeom>
          <a:solidFill>
            <a:srgbClr val="0E4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93023" y="1920240"/>
            <a:ext cx="15087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5. Attachement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9871" y="2926080"/>
            <a:ext cx="1783080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12263A"/>
                </a:solidFill>
                <a:latin typeface="Calibri"/>
              </a:rPr>
              <a:t>Édité sur les jours pointés, puis validé et figé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12680" y="1828800"/>
            <a:ext cx="1783080" cy="914400"/>
          </a:xfrm>
          <a:prstGeom prst="roundRect">
            <a:avLst/>
          </a:prstGeom>
          <a:solidFill>
            <a:srgbClr val="1659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85832" y="1920240"/>
            <a:ext cx="15087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6. Facture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12680" y="2926080"/>
            <a:ext cx="1783080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12263A"/>
                </a:solidFill>
                <a:latin typeface="Calibri"/>
              </a:rPr>
              <a:t>Établie à partir de l'attachement validé, avec l'historique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212080"/>
            <a:ext cx="1106424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E4377"/>
                </a:solidFill>
                <a:latin typeface="Calibri"/>
              </a:rPr>
              <a:t>Un seul outil, une seule saisie : le bordereau des prix lu au départ alimente le contrat, les effectifs, le pointage, l'attachement et la facture.</a:t>
            </a:r>
          </a:p>
          <a:p>
            <a:pPr algn="l"/>
            <a:r>
              <a:rPr sz="1700" b="1" i="0">
                <a:solidFill>
                  <a:srgbClr val="0E4377"/>
                </a:solidFill>
                <a:latin typeface="Calibri"/>
              </a:rPr>
              <a:t>Le client suit le pointage et laisse ses remarques ; vos données restent dans votre classeur Google.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B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 i="0">
                <a:solidFill>
                  <a:srgbClr val="0E4377"/>
                </a:solidFill>
                <a:latin typeface="Calibri"/>
              </a:rPr>
              <a:t>Quatre profils, quatre espaces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6B7785"/>
                </a:solidFill>
                <a:latin typeface="Calibri"/>
              </a:rPr>
              <a:t>Chaque personne retrouve l'essentiel dès l'ouverture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© 2026 JawlaDev — Tous droits réservés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269748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23317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16598D"/>
                </a:solidFill>
                <a:latin typeface="Calibri"/>
              </a:rPr>
              <a:t>L'agent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2331720" cy="338327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12263A"/>
                </a:solidFill>
                <a:latin typeface="Calibri"/>
              </a:rPr>
              <a:t>● Sa situation du jour</a:t>
            </a:r>
          </a:p>
          <a:p>
            <a:pPr algn="l"/>
            <a:r>
              <a:rPr sz="1600" b="0" i="0">
                <a:solidFill>
                  <a:srgbClr val="12263A"/>
                </a:solidFill>
                <a:latin typeface="Calibri"/>
              </a:rPr>
              <a:t>● Son solde au départ</a:t>
            </a:r>
          </a:p>
          <a:p>
            <a:pPr algn="l"/>
            <a:r>
              <a:rPr sz="1600" b="0" i="0">
                <a:solidFill>
                  <a:srgbClr val="12263A"/>
                </a:solidFill>
                <a:latin typeface="Calibri"/>
              </a:rPr>
              <a:t>● Son pointage sur 1 an</a:t>
            </a:r>
          </a:p>
          <a:p>
            <a:pPr algn="l"/>
            <a:r>
              <a:rPr sz="1600" b="0" i="0">
                <a:solidFill>
                  <a:srgbClr val="12263A"/>
                </a:solidFill>
                <a:latin typeface="Calibri"/>
              </a:rPr>
              <a:t>● Ses demandes et documents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737360"/>
            <a:ext cx="269748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874519"/>
            <a:ext cx="23317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E4377"/>
                </a:solidFill>
                <a:latin typeface="Calibri"/>
              </a:rPr>
              <a:t>Le responsable d’équipe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423160"/>
            <a:ext cx="2331720" cy="338327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12263A"/>
                </a:solidFill>
                <a:latin typeface="Calibri"/>
              </a:rPr>
              <a:t>● Pointe son équipe</a:t>
            </a:r>
          </a:p>
          <a:p>
            <a:pPr algn="l"/>
            <a:r>
              <a:rPr sz="1600" b="0" i="0">
                <a:solidFill>
                  <a:srgbClr val="12263A"/>
                </a:solidFill>
                <a:latin typeface="Calibri"/>
              </a:rPr>
              <a:t>● Traite les demandes</a:t>
            </a:r>
          </a:p>
          <a:p>
            <a:pPr algn="l"/>
            <a:r>
              <a:rPr sz="1600" b="0" i="0">
                <a:solidFill>
                  <a:srgbClr val="12263A"/>
                </a:solidFill>
                <a:latin typeface="Calibri"/>
              </a:rPr>
              <a:t>● Dépose les documents</a:t>
            </a:r>
          </a:p>
          <a:p>
            <a:pPr algn="l"/>
            <a:r>
              <a:rPr sz="1600" b="0" i="0">
                <a:solidFill>
                  <a:srgbClr val="12263A"/>
                </a:solidFill>
                <a:latin typeface="Calibri"/>
              </a:rPr>
              <a:t>● Gère ses agents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737360"/>
            <a:ext cx="269748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874519"/>
            <a:ext cx="23317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E4377"/>
                </a:solidFill>
                <a:latin typeface="Calibri"/>
              </a:rPr>
              <a:t>L'administrateur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23160"/>
            <a:ext cx="2331720" cy="338327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12263A"/>
                </a:solidFill>
                <a:latin typeface="Calibri"/>
              </a:rPr>
              <a:t>● Contrats et bordereaux</a:t>
            </a:r>
          </a:p>
          <a:p>
            <a:pPr algn="l"/>
            <a:r>
              <a:rPr sz="1600" b="0" i="0">
                <a:solidFill>
                  <a:srgbClr val="12263A"/>
                </a:solidFill>
                <a:latin typeface="Calibri"/>
              </a:rPr>
              <a:t>● Attachements et factures</a:t>
            </a:r>
          </a:p>
          <a:p>
            <a:pPr algn="l"/>
            <a:r>
              <a:rPr sz="1600" b="0" i="0">
                <a:solidFill>
                  <a:srgbClr val="12263A"/>
                </a:solidFill>
                <a:latin typeface="Calibri"/>
              </a:rPr>
              <a:t>● Export, import, sauvegarde</a:t>
            </a:r>
          </a:p>
          <a:p>
            <a:pPr algn="l"/>
            <a:r>
              <a:rPr sz="1600" b="0" i="0">
                <a:solidFill>
                  <a:srgbClr val="12263A"/>
                </a:solidFill>
                <a:latin typeface="Calibri"/>
              </a:rPr>
              <a:t>● Réglages de l'entreprise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737360"/>
            <a:ext cx="269748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874519"/>
            <a:ext cx="23317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2FB5B4"/>
                </a:solidFill>
                <a:latin typeface="Calibri"/>
              </a:rPr>
              <a:t>Le client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423160"/>
            <a:ext cx="2331720" cy="338327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12263A"/>
                </a:solidFill>
                <a:latin typeface="Calibri"/>
              </a:rPr>
              <a:t>● Consulte le pointage</a:t>
            </a:r>
          </a:p>
          <a:p>
            <a:pPr algn="l"/>
            <a:r>
              <a:rPr sz="1600" b="0" i="0">
                <a:solidFill>
                  <a:srgbClr val="12263A"/>
                </a:solidFill>
                <a:latin typeface="Calibri"/>
              </a:rPr>
              <a:t>● Voit contrat et factures</a:t>
            </a:r>
          </a:p>
          <a:p>
            <a:pPr algn="l"/>
            <a:r>
              <a:rPr sz="1600" b="0" i="0">
                <a:solidFill>
                  <a:srgbClr val="12263A"/>
                </a:solidFill>
                <a:latin typeface="Calibri"/>
              </a:rPr>
              <a:t>● Laisse des remarques</a:t>
            </a:r>
          </a:p>
          <a:p>
            <a:pPr algn="l"/>
            <a:r>
              <a:rPr sz="1600" b="0" i="0">
                <a:solidFill>
                  <a:srgbClr val="12263A"/>
                </a:solidFill>
                <a:latin typeface="Calibri"/>
              </a:rPr>
              <a:t>● Ne modifie rien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B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 i="0">
                <a:solidFill>
                  <a:srgbClr val="0E4377"/>
                </a:solidFill>
                <a:latin typeface="Calibri"/>
              </a:rPr>
              <a:t>Pointer en un clic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6B7785"/>
                </a:solidFill>
                <a:latin typeface="Calibri"/>
              </a:rPr>
              <a:t>T, R, ABS : sur un jour, sur une période, ou directement dans la grille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© 2026 JawlaDev — Tous droits réservés</a:t>
            </a:r>
          </a:p>
        </p:txBody>
      </p:sp>
      <p:pic>
        <p:nvPicPr>
          <p:cNvPr id="7" name="Picture 6" descr="10-poi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7589520" cy="4576034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412480" y="173736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Prévisions</a:t>
            </a:r>
            <a:r>
              <a:rPr sz="1500">
                <a:solidFill>
                  <a:srgbClr val="12263A"/>
                </a:solidFill>
                <a:latin typeface="Calibri"/>
              </a:rPr>
              <a:t> — dès le premier pointage, selon la rotation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Rotation par agent</a:t>
            </a:r>
            <a:r>
              <a:rPr sz="1500">
                <a:solidFill>
                  <a:srgbClr val="12263A"/>
                </a:solidFill>
                <a:latin typeface="Calibri"/>
              </a:rPr>
              <a:t> — 28/28, 14/14, 21/21, 6/2, 3/3…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Un pointage réel</a:t>
            </a:r>
            <a:r>
              <a:rPr sz="1500">
                <a:solidFill>
                  <a:srgbClr val="12263A"/>
                </a:solidFill>
                <a:latin typeface="Calibri"/>
              </a:rPr>
              <a:t> — n'est jamais écrasé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Matériel (camions, engins, 4x4)</a:t>
            </a:r>
            <a:r>
              <a:rPr sz="1500">
                <a:solidFill>
                  <a:srgbClr val="12263A"/>
                </a:solidFill>
                <a:latin typeface="Calibri"/>
              </a:rPr>
              <a:t> — pointé comme des agents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B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 i="0">
                <a:solidFill>
                  <a:srgbClr val="0E4377"/>
                </a:solidFill>
                <a:latin typeface="Calibri"/>
              </a:rPr>
              <a:t>Le matériel aussi : camions, engins, 4x4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6B7785"/>
                </a:solidFill>
                <a:latin typeface="Calibri"/>
              </a:rPr>
              <a:t>Chaque engin mis à disposition est pointé comme une personne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© 2026 JawlaDev — Tous droits réservés</a:t>
            </a:r>
          </a:p>
        </p:txBody>
      </p:sp>
      <p:pic>
        <p:nvPicPr>
          <p:cNvPr id="7" name="Picture 6" descr="15-materiel-poin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675120" cy="4910064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498079" y="1737360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Camion 2,5 tonnes, rétrochargeur, véhicule 4x4</a:t>
            </a:r>
            <a:r>
              <a:rPr sz="1500">
                <a:solidFill>
                  <a:srgbClr val="12263A"/>
                </a:solidFill>
                <a:latin typeface="Calibri"/>
              </a:rPr>
              <a:t> — créés avec leur immatriculation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En service (T), à l'arrêt (R), en panne (ABS)</a:t>
            </a:r>
            <a:r>
              <a:rPr sz="1500">
                <a:solidFill>
                  <a:srgbClr val="12263A"/>
                </a:solidFill>
                <a:latin typeface="Calibri"/>
              </a:rPr>
              <a:t> — même grille que le personnel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0">
                <a:solidFill>
                  <a:srgbClr val="12263A"/>
                </a:solidFill>
                <a:latin typeface="Calibri"/>
              </a:rPr>
              <a:t>Repérés par le badge VH, sans compte de connexion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0">
                <a:solidFill>
                  <a:srgbClr val="12263A"/>
                </a:solidFill>
                <a:latin typeface="Calibri"/>
              </a:rPr>
              <a:t>Le nombre d'engins suit le contrat : voyant complet / manque / dépassé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B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 i="0">
                <a:solidFill>
                  <a:srgbClr val="0E4377"/>
                </a:solidFill>
                <a:latin typeface="Calibri"/>
              </a:rPr>
              <a:t>Personnel et matériel, un seul attachement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6B7785"/>
                </a:solidFill>
                <a:latin typeface="Calibri"/>
              </a:rPr>
              <a:t>Les jours pointés de chaque engin deviennent des quantités et des montants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© 2026 JawlaDev — Tous droits réservés</a:t>
            </a:r>
          </a:p>
        </p:txBody>
      </p:sp>
      <p:pic>
        <p:nvPicPr>
          <p:cNvPr id="7" name="Picture 6" descr="51-materiel-attach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7223760" cy="3947599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046720" y="1737360"/>
            <a:ext cx="374903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0">
                <a:solidFill>
                  <a:srgbClr val="12263A"/>
                </a:solidFill>
                <a:latin typeface="Calibri"/>
              </a:rPr>
              <a:t>Une ligne par fonction du bordereau : personnel et matériel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0">
                <a:solidFill>
                  <a:srgbClr val="12263A"/>
                </a:solidFill>
                <a:latin typeface="Calibri"/>
              </a:rPr>
              <a:t>Quantité du mois = jours réellement pointés (modifiable)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0">
                <a:solidFill>
                  <a:srgbClr val="12263A"/>
                </a:solidFill>
                <a:latin typeface="Calibri"/>
              </a:rPr>
              <a:t>Prix unitaire du contrat, total HT calculé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0">
                <a:solidFill>
                  <a:srgbClr val="12263A"/>
                </a:solidFill>
                <a:latin typeface="Calibri"/>
              </a:rPr>
              <a:t>Excel et PDF, puis la facture si le module est activé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B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 i="0">
                <a:solidFill>
                  <a:srgbClr val="0E4377"/>
                </a:solidFill>
                <a:latin typeface="Calibri"/>
              </a:rPr>
              <a:t>Vous avez oublié de pointer ? Un bouton suffit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6B7785"/>
                </a:solidFill>
                <a:latin typeface="Calibri"/>
              </a:rPr>
              <a:t>« Copier le dernier pointage » rattrape les jours manquants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© 2026 JawlaDev — Tous droits réservés</a:t>
            </a:r>
          </a:p>
        </p:txBody>
      </p:sp>
      <p:pic>
        <p:nvPicPr>
          <p:cNvPr id="7" name="Picture 6" descr="11-comple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7589520" cy="4576034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412480" y="173736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Agents cochés</a:t>
            </a:r>
            <a:r>
              <a:rPr sz="1500">
                <a:solidFill>
                  <a:srgbClr val="12263A"/>
                </a:solidFill>
                <a:latin typeface="Calibri"/>
              </a:rPr>
              <a:t> — ou tous en une case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Dernier statut recopié</a:t>
            </a:r>
            <a:r>
              <a:rPr sz="1500">
                <a:solidFill>
                  <a:srgbClr val="12263A"/>
                </a:solidFill>
                <a:latin typeface="Calibri"/>
              </a:rPr>
              <a:t> — jusqu'à aujourd'hui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Résumé avant d'écrire</a:t>
            </a:r>
            <a:r>
              <a:rPr sz="1500">
                <a:solidFill>
                  <a:srgbClr val="12263A"/>
                </a:solidFill>
                <a:latin typeface="Calibri"/>
              </a:rPr>
              <a:t> — rien de caché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Jours déjà pointés</a:t>
            </a:r>
            <a:r>
              <a:rPr sz="1500">
                <a:solidFill>
                  <a:srgbClr val="12263A"/>
                </a:solidFill>
                <a:latin typeface="Calibri"/>
              </a:rPr>
              <a:t> — jamais remplacés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B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 i="0">
                <a:solidFill>
                  <a:srgbClr val="0E4377"/>
                </a:solidFill>
                <a:latin typeface="Calibri"/>
              </a:rPr>
              <a:t>Voir loin : 3 mois, 6 mois, 1 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6B7785"/>
                </a:solidFill>
                <a:latin typeface="Calibri"/>
              </a:rPr>
              <a:t>Les départs, les reprises et les fêtes, en un coup d'œil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© 2026 JawlaDev — Tous droits réservés</a:t>
            </a:r>
          </a:p>
        </p:txBody>
      </p:sp>
      <p:pic>
        <p:nvPicPr>
          <p:cNvPr id="7" name="Picture 6" descr="14-vue-1-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7863840" cy="4741432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686800" y="173736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Jours fériés algériens</a:t>
            </a:r>
            <a:r>
              <a:rPr sz="1500">
                <a:solidFill>
                  <a:srgbClr val="12263A"/>
                </a:solidFill>
                <a:latin typeface="Calibri"/>
              </a:rPr>
              <a:t> — fêtes nationales et religieuses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Jour courant</a:t>
            </a:r>
            <a:r>
              <a:rPr sz="1500">
                <a:solidFill>
                  <a:srgbClr val="12263A"/>
                </a:solidFill>
                <a:latin typeface="Calibri"/>
              </a:rPr>
              <a:t> — repéré, la grille s'y place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Totaux T, CR, ABS</a:t>
            </a:r>
            <a:r>
              <a:rPr sz="1500">
                <a:solidFill>
                  <a:srgbClr val="12263A"/>
                </a:solidFill>
                <a:latin typeface="Calibri"/>
              </a:rPr>
              <a:t> — et solde cumulé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Dates religieuses</a:t>
            </a:r>
            <a:r>
              <a:rPr sz="1500">
                <a:solidFill>
                  <a:srgbClr val="12263A"/>
                </a:solidFill>
                <a:latin typeface="Calibri"/>
              </a:rPr>
              <a:t> — corrigeables en 2 clics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B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 i="0">
                <a:solidFill>
                  <a:srgbClr val="0E4377"/>
                </a:solidFill>
                <a:latin typeface="Calibri"/>
              </a:rPr>
              <a:t>L'agent sait toujours où il en 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6B7785"/>
                </a:solidFill>
                <a:latin typeface="Calibri"/>
              </a:rPr>
              <a:t>Plus besoin d'appeler pour demander son solde ou sa date de reprise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© 2026 JawlaDev — Tous droits réservés</a:t>
            </a:r>
          </a:p>
        </p:txBody>
      </p:sp>
      <p:pic>
        <p:nvPicPr>
          <p:cNvPr id="7" name="Picture 6" descr="60-agent-accue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766560" cy="4079837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pic>
        <p:nvPicPr>
          <p:cNvPr id="8" name="Picture 7" descr="93-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463040"/>
            <a:ext cx="2318004" cy="4754880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10058400" y="2103120"/>
            <a:ext cx="2011680" cy="2926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1">
                <a:solidFill>
                  <a:srgbClr val="0E4377"/>
                </a:solidFill>
                <a:latin typeface="Calibri"/>
              </a:rPr>
              <a:t>« Le jour de votre départ, votre solde sera de +43 jours. 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B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 i="0">
                <a:solidFill>
                  <a:srgbClr val="0E4377"/>
                </a:solidFill>
                <a:latin typeface="Calibri"/>
              </a:rPr>
              <a:t>Demandes et documents, sans courir après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6B7785"/>
                </a:solidFill>
                <a:latin typeface="Calibri"/>
              </a:rPr>
              <a:t>Du titre de congé à la fiche de paie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© 2026 JawlaDev — Tous droits réservés</a:t>
            </a:r>
          </a:p>
        </p:txBody>
      </p:sp>
      <p:pic>
        <p:nvPicPr>
          <p:cNvPr id="7" name="Picture 6" descr="70-demandes-ch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394960" cy="3252843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pic>
        <p:nvPicPr>
          <p:cNvPr id="8" name="Picture 7" descr="64-documents-ag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00200"/>
            <a:ext cx="5394960" cy="3252843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48640" y="502920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2FB5B4"/>
                </a:solidFill>
                <a:latin typeface="Calibri"/>
              </a:rPr>
              <a:t>● </a:t>
            </a:r>
            <a:r>
              <a:rPr sz="1500" b="1">
                <a:solidFill>
                  <a:srgbClr val="0E4377"/>
                </a:solidFill>
                <a:latin typeface="Calibri"/>
              </a:rPr>
              <a:t>Demandes regroupées par thème</a:t>
            </a:r>
            <a:r>
              <a:rPr sz="1400">
                <a:solidFill>
                  <a:srgbClr val="12263A"/>
                </a:solidFill>
                <a:latin typeface="Calibri"/>
              </a:rPr>
              <a:t> — une seule demande part à la direction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FB5B4"/>
                </a:solidFill>
                <a:latin typeface="Calibri"/>
              </a:rPr>
              <a:t>● </a:t>
            </a:r>
            <a:r>
              <a:rPr sz="1500" b="1">
                <a:solidFill>
                  <a:srgbClr val="0E4377"/>
                </a:solidFill>
                <a:latin typeface="Calibri"/>
              </a:rPr>
              <a:t>Date de reprise calculée</a:t>
            </a:r>
            <a:r>
              <a:rPr sz="1400">
                <a:solidFill>
                  <a:srgbClr val="12263A"/>
                </a:solidFill>
                <a:latin typeface="Calibri"/>
              </a:rPr>
              <a:t> — départ + durée du repos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502920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2FB5B4"/>
                </a:solidFill>
                <a:latin typeface="Calibri"/>
              </a:rPr>
              <a:t>● </a:t>
            </a:r>
            <a:r>
              <a:rPr sz="1500" b="1">
                <a:solidFill>
                  <a:srgbClr val="0E4377"/>
                </a:solidFill>
                <a:latin typeface="Calibri"/>
              </a:rPr>
              <a:t>Documents rangés tout seuls</a:t>
            </a:r>
            <a:r>
              <a:rPr sz="1400">
                <a:solidFill>
                  <a:srgbClr val="12263A"/>
                </a:solidFill>
                <a:latin typeface="Calibri"/>
              </a:rPr>
              <a:t> — type, période, nom, dossier Drive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FB5B4"/>
                </a:solidFill>
                <a:latin typeface="Calibri"/>
              </a:rPr>
              <a:t>● </a:t>
            </a:r>
            <a:r>
              <a:rPr sz="1500" b="1">
                <a:solidFill>
                  <a:srgbClr val="0E4377"/>
                </a:solidFill>
                <a:latin typeface="Calibri"/>
              </a:rPr>
              <a:t>Pastille et e-mail</a:t>
            </a:r>
            <a:r>
              <a:rPr sz="1400">
                <a:solidFill>
                  <a:srgbClr val="12263A"/>
                </a:solidFill>
                <a:latin typeface="Calibri"/>
              </a:rPr>
              <a:t> — l'agent est prévenu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B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 i="0">
                <a:solidFill>
                  <a:srgbClr val="0E4377"/>
                </a:solidFill>
                <a:latin typeface="Calibri"/>
              </a:rPr>
              <a:t>Du contrat à la facture, sans ressaisie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6B7785"/>
                </a:solidFill>
                <a:latin typeface="Calibri"/>
              </a:rPr>
              <a:t>Le bordereau des prix se lit tout seul, le reste en découle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© 2026 JawlaDev — Tous droits réservés</a:t>
            </a:r>
          </a:p>
        </p:txBody>
      </p:sp>
      <p:pic>
        <p:nvPicPr>
          <p:cNvPr id="7" name="Picture 6" descr="40a-contr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035040" cy="4570655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406640" y="1737360"/>
            <a:ext cx="4480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Bordereau des prix lu automatiquement</a:t>
            </a:r>
            <a:r>
              <a:rPr sz="1500">
                <a:solidFill>
                  <a:srgbClr val="12263A"/>
                </a:solidFill>
                <a:latin typeface="Calibri"/>
              </a:rPr>
              <a:t> — PDF scanné, photo, Excel, CSV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Contrat complet</a:t>
            </a:r>
            <a:r>
              <a:rPr sz="1500">
                <a:solidFill>
                  <a:srgbClr val="12263A"/>
                </a:solidFill>
                <a:latin typeface="Calibri"/>
              </a:rPr>
              <a:t> — début, durée, fin visibles de tous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Effectifs bornés</a:t>
            </a:r>
            <a:r>
              <a:rPr sz="1500">
                <a:solidFill>
                  <a:srgbClr val="12263A"/>
                </a:solidFill>
                <a:latin typeface="Calibri"/>
              </a:rPr>
              <a:t> — voyant complet / manque / dépassé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Historique</a:t>
            </a:r>
            <a:r>
              <a:rPr sz="1500">
                <a:solidFill>
                  <a:srgbClr val="12263A"/>
                </a:solidFill>
                <a:latin typeface="Calibri"/>
              </a:rPr>
              <a:t> — par fonction, avec le reste à facturer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B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 i="0">
                <a:solidFill>
                  <a:srgbClr val="0E4377"/>
                </a:solidFill>
                <a:latin typeface="Calibri"/>
              </a:rPr>
              <a:t>Attachement et facture, sur les jours pointés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6B7785"/>
                </a:solidFill>
                <a:latin typeface="Calibri"/>
              </a:rPr>
              <a:t>Validez : le mois est figé. Ensuite, la facture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© 2026 JawlaDev — Tous droits réservés</a:t>
            </a:r>
          </a:p>
        </p:txBody>
      </p:sp>
      <p:pic>
        <p:nvPicPr>
          <p:cNvPr id="7" name="Picture 6" descr="50-ex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943600" cy="4545105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589520" y="1737360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Fiche de pointage</a:t>
            </a:r>
            <a:r>
              <a:rPr sz="1500">
                <a:solidFill>
                  <a:srgbClr val="12263A"/>
                </a:solidFill>
                <a:latin typeface="Calibri"/>
              </a:rPr>
              <a:t> — Excel et PDF du mois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Attachement</a:t>
            </a:r>
            <a:r>
              <a:rPr sz="1500">
                <a:solidFill>
                  <a:srgbClr val="12263A"/>
                </a:solidFill>
                <a:latin typeface="Calibri"/>
              </a:rPr>
              <a:t> — quantités sur les jours T pointés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Validation</a:t>
            </a:r>
            <a:r>
              <a:rPr sz="1500">
                <a:solidFill>
                  <a:srgbClr val="12263A"/>
                </a:solidFill>
                <a:latin typeface="Calibri"/>
              </a:rPr>
              <a:t> — mêmes quantités, mêmes prix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Facture</a:t>
            </a:r>
            <a:r>
              <a:rPr sz="1500">
                <a:solidFill>
                  <a:srgbClr val="12263A"/>
                </a:solidFill>
                <a:latin typeface="Calibri"/>
              </a:rPr>
              <a:t> — numéro, date, PDF et Excel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Brouillon du mois suivant</a:t>
            </a:r>
            <a:r>
              <a:rPr sz="1500">
                <a:solidFill>
                  <a:srgbClr val="12263A"/>
                </a:solidFill>
                <a:latin typeface="Calibri"/>
              </a:rPr>
              <a:t> — à titre indicatif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B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 i="0">
                <a:solidFill>
                  <a:srgbClr val="0E4377"/>
                </a:solidFill>
                <a:latin typeface="Calibri"/>
              </a:rPr>
              <a:t>Votre client suit, et vous répond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6B7785"/>
                </a:solidFill>
                <a:latin typeface="Calibri"/>
              </a:rPr>
              <a:t>Un compte de consultation créé tout seul, limité à son contrat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© 2026 JawlaDev — Tous droits réservés</a:t>
            </a:r>
          </a:p>
        </p:txBody>
      </p:sp>
      <p:pic>
        <p:nvPicPr>
          <p:cNvPr id="7" name="Picture 6" descr="81-client-remarq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394960" cy="3252843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pic>
        <p:nvPicPr>
          <p:cNvPr id="8" name="Picture 7" descr="83-remarque-prestatai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00200"/>
            <a:ext cx="5394960" cy="3252843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48640" y="502920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2FB5B4"/>
                </a:solidFill>
                <a:latin typeface="Calibri"/>
              </a:rPr>
              <a:t>● </a:t>
            </a:r>
            <a:r>
              <a:rPr sz="1500" b="1">
                <a:solidFill>
                  <a:srgbClr val="0E4377"/>
                </a:solidFill>
                <a:latin typeface="Calibri"/>
              </a:rPr>
              <a:t>Un clic sur un jour</a:t>
            </a:r>
            <a:r>
              <a:rPr sz="1400">
                <a:solidFill>
                  <a:srgbClr val="12263A"/>
                </a:solidFill>
                <a:latin typeface="Calibri"/>
              </a:rPr>
              <a:t> — le client laisse sa remarque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FB5B4"/>
                </a:solidFill>
                <a:latin typeface="Calibri"/>
              </a:rPr>
              <a:t>● </a:t>
            </a:r>
            <a:r>
              <a:rPr sz="1500" b="1">
                <a:solidFill>
                  <a:srgbClr val="0E4377"/>
                </a:solidFill>
                <a:latin typeface="Calibri"/>
              </a:rPr>
              <a:t>Il ne modifie rien</a:t>
            </a:r>
            <a:r>
              <a:rPr sz="1400">
                <a:solidFill>
                  <a:srgbClr val="12263A"/>
                </a:solidFill>
                <a:latin typeface="Calibri"/>
              </a:rPr>
              <a:t> — lecture seule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502920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2FB5B4"/>
                </a:solidFill>
                <a:latin typeface="Calibri"/>
              </a:rPr>
              <a:t>● </a:t>
            </a:r>
            <a:r>
              <a:rPr sz="1500" b="1">
                <a:solidFill>
                  <a:srgbClr val="0E4377"/>
                </a:solidFill>
                <a:latin typeface="Calibri"/>
              </a:rPr>
              <a:t>Repère rouge dans la grille</a:t>
            </a:r>
            <a:r>
              <a:rPr sz="1400">
                <a:solidFill>
                  <a:srgbClr val="12263A"/>
                </a:solidFill>
                <a:latin typeface="Calibri"/>
              </a:rPr>
              <a:t> — et e-mail au responsable d’équipe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FB5B4"/>
                </a:solidFill>
                <a:latin typeface="Calibri"/>
              </a:rPr>
              <a:t>● </a:t>
            </a:r>
            <a:r>
              <a:rPr sz="1500" b="1">
                <a:solidFill>
                  <a:srgbClr val="0E4377"/>
                </a:solidFill>
                <a:latin typeface="Calibri"/>
              </a:rPr>
              <a:t>« Vu » et réponse</a:t>
            </a:r>
            <a:r>
              <a:rPr sz="1400">
                <a:solidFill>
                  <a:srgbClr val="12263A"/>
                </a:solidFill>
                <a:latin typeface="Calibri"/>
              </a:rPr>
              <a:t> — le client voit la réponse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B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 i="0">
                <a:solidFill>
                  <a:srgbClr val="0E4377"/>
                </a:solidFill>
                <a:latin typeface="Calibri"/>
              </a:rPr>
              <a:t>Tout le monde est prévenu au bon moment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6B7785"/>
                </a:solidFill>
                <a:latin typeface="Calibri"/>
              </a:rPr>
              <a:t>Pastilles, messages à l'écran et e-mails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© 2026 JawlaDev — Tous droits réservés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E4377"/>
                </a:solidFill>
                <a:latin typeface="Calibri"/>
              </a:rPr>
              <a:t>Nouveau document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320040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2263A"/>
                </a:solidFill>
                <a:latin typeface="Calibri"/>
              </a:rPr>
              <a:t>Pastille « Mes documents », message à l'écran et e-mail avec le nom du fichier.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73736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874519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E4377"/>
                </a:solidFill>
                <a:latin typeface="Calibri"/>
              </a:rPr>
              <a:t>Nouvelle demande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423160"/>
            <a:ext cx="320040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2263A"/>
                </a:solidFill>
                <a:latin typeface="Calibri"/>
              </a:rPr>
              <a:t>Le responsable d’équipe est prévenu avec les dates et la date de reprise.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73736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874519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E4377"/>
                </a:solidFill>
                <a:latin typeface="Calibri"/>
              </a:rPr>
              <a:t>Nouvelle remarque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423160"/>
            <a:ext cx="320040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2263A"/>
                </a:solidFill>
                <a:latin typeface="Calibri"/>
              </a:rPr>
              <a:t>Le responsable d’équipe voit la pastille et reçoit la remarque du client.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51960"/>
            <a:ext cx="548640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E4377"/>
                </a:solidFill>
                <a:latin typeface="Calibri"/>
              </a:rPr>
              <a:t>Accès envoyés par e-mail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937760"/>
            <a:ext cx="512064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2263A"/>
                </a:solidFill>
                <a:latin typeface="Calibri"/>
              </a:rPr>
              <a:t>À la création d'un agent, ou à tout moment : lien, identifiant et mot de passe provisoire.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251960"/>
            <a:ext cx="539496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38912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E4377"/>
                </a:solidFill>
                <a:latin typeface="Calibri"/>
              </a:rPr>
              <a:t>Demandes groupées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937760"/>
            <a:ext cx="50292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2263A"/>
                </a:solidFill>
                <a:latin typeface="Calibri"/>
              </a:rPr>
              <a:t>Une seule demande par e-mail à la direction, avec la réponse appliquée à toutes.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B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 i="0">
                <a:solidFill>
                  <a:srgbClr val="0E4377"/>
                </a:solidFill>
                <a:latin typeface="Calibri"/>
              </a:rPr>
              <a:t>Français, arabe, anglais — et mode sombre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6B7785"/>
                </a:solidFill>
                <a:latin typeface="Calibri"/>
              </a:rPr>
              <a:t>Chacun travaille dans sa langue, de droite à gauche en arabe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© 2026 JawlaDev — Tous droits réservés</a:t>
            </a:r>
          </a:p>
        </p:txBody>
      </p:sp>
      <p:pic>
        <p:nvPicPr>
          <p:cNvPr id="7" name="Picture 6" descr="92-ara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394960" cy="3252843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pic>
        <p:nvPicPr>
          <p:cNvPr id="8" name="Picture 7" descr="91-mode-somb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00200"/>
            <a:ext cx="5394960" cy="3252843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48640" y="5257800"/>
            <a:ext cx="1106424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 i="0">
                <a:solidFill>
                  <a:srgbClr val="0E4377"/>
                </a:solidFill>
                <a:latin typeface="Calibri"/>
              </a:rPr>
              <a:t>Application installable sur téléphone, en plein écran.</a:t>
            </a:r>
          </a:p>
          <a:p>
            <a:pPr algn="l"/>
            <a:r>
              <a:rPr sz="1800" b="0" i="0">
                <a:solidFill>
                  <a:srgbClr val="0E4377"/>
                </a:solidFill>
                <a:latin typeface="Calibri"/>
              </a:rPr>
              <a:t>Langue et mode sombre : un petit sélecteur discret en bas à droite.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B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 i="0">
                <a:solidFill>
                  <a:srgbClr val="0E4377"/>
                </a:solidFill>
                <a:latin typeface="Calibri"/>
              </a:rPr>
              <a:t>Vos données restent chez vous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6B7785"/>
                </a:solidFill>
                <a:latin typeface="Calibri"/>
              </a:rPr>
              <a:t>Un classeur Google par entreprise, jamais mélangé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© 2026 JawlaDev — Tous droits réservés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Un classeur par entreprise</a:t>
            </a:r>
            <a:r>
              <a:rPr sz="1500">
                <a:solidFill>
                  <a:srgbClr val="12263A"/>
                </a:solidFill>
                <a:latin typeface="Calibri"/>
              </a:rPr>
              <a:t> — vous pouvez l'ouvrir à tout moment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Mots de passe</a:t>
            </a:r>
            <a:r>
              <a:rPr sz="1500">
                <a:solidFill>
                  <a:srgbClr val="12263A"/>
                </a:solidFill>
                <a:latin typeface="Calibri"/>
              </a:rPr>
              <a:t> — jamais stockés en clair, connexions limitées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Droits par profil</a:t>
            </a:r>
            <a:r>
              <a:rPr sz="1500">
                <a:solidFill>
                  <a:srgbClr val="12263A"/>
                </a:solidFill>
                <a:latin typeface="Calibri"/>
              </a:rPr>
              <a:t> — chacun ne voit que son périmètre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Textes saisis</a:t>
            </a:r>
            <a:r>
              <a:rPr sz="1500">
                <a:solidFill>
                  <a:srgbClr val="12263A"/>
                </a:solidFill>
                <a:latin typeface="Calibri"/>
              </a:rPr>
              <a:t> — jamais exécutés comme des formules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Sauvegarde et restauration</a:t>
            </a:r>
            <a:r>
              <a:rPr sz="1500">
                <a:solidFill>
                  <a:srgbClr val="12263A"/>
                </a:solidFill>
                <a:latin typeface="Calibri"/>
              </a:rPr>
              <a:t> — en un clic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Export et import Excel</a:t>
            </a:r>
            <a:r>
              <a:rPr sz="1500">
                <a:solidFill>
                  <a:srgbClr val="12263A"/>
                </a:solidFill>
                <a:latin typeface="Calibri"/>
              </a:rPr>
              <a:t> — vos données ne sont pas prisonnières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2FB5B4"/>
                </a:solidFill>
                <a:latin typeface="Calibri"/>
              </a:rPr>
              <a:t>● </a:t>
            </a:r>
            <a:r>
              <a:rPr sz="1600" b="1">
                <a:solidFill>
                  <a:srgbClr val="0E4377"/>
                </a:solidFill>
                <a:latin typeface="Calibri"/>
              </a:rPr>
              <a:t>Charte de confidentialité</a:t>
            </a:r>
            <a:r>
              <a:rPr sz="1500">
                <a:solidFill>
                  <a:srgbClr val="12263A"/>
                </a:solidFill>
                <a:latin typeface="Calibri"/>
              </a:rPr>
              <a:t> — visible sur chaque page</a:t>
            </a:r>
          </a:p>
        </p:txBody>
      </p:sp>
      <p:pic>
        <p:nvPicPr>
          <p:cNvPr id="8" name="Picture 7" descr="43-setup-mainte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600200"/>
            <a:ext cx="4768630" cy="4663440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B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 i="0">
                <a:solidFill>
                  <a:srgbClr val="0E4377"/>
                </a:solidFill>
                <a:latin typeface="Calibri"/>
              </a:rPr>
              <a:t>Et ce n'est pas tout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6B7785"/>
                </a:solidFill>
                <a:latin typeface="Calibri"/>
              </a:rPr>
              <a:t>Toutes les fonctions utiles au quotidien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© 2026 JawlaDev — Tous droits réservés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1">
                <a:solidFill>
                  <a:srgbClr val="2FB5B4"/>
                </a:solidFill>
                <a:latin typeface="Calibri"/>
              </a:rPr>
              <a:t>✔  </a:t>
            </a:r>
            <a:r>
              <a:rPr sz="1700">
                <a:solidFill>
                  <a:srgbClr val="0E4377"/>
                </a:solidFill>
                <a:latin typeface="Calibri"/>
              </a:rPr>
              <a:t>Rattraper les jours oubliés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2FB5B4"/>
                </a:solidFill>
                <a:latin typeface="Calibri"/>
              </a:rPr>
              <a:t>✔  </a:t>
            </a:r>
            <a:r>
              <a:rPr sz="1700">
                <a:solidFill>
                  <a:srgbClr val="0E4377"/>
                </a:solidFill>
                <a:latin typeface="Calibri"/>
              </a:rPr>
              <a:t>Vues 1 mois, 3, 6, 12 mois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2FB5B4"/>
                </a:solidFill>
                <a:latin typeface="Calibri"/>
              </a:rPr>
              <a:t>✔  </a:t>
            </a:r>
            <a:r>
              <a:rPr sz="1700">
                <a:solidFill>
                  <a:srgbClr val="0E4377"/>
                </a:solidFill>
                <a:latin typeface="Calibri"/>
              </a:rPr>
              <a:t>Jours fériés algériens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2FB5B4"/>
                </a:solidFill>
                <a:latin typeface="Calibri"/>
              </a:rPr>
              <a:t>✔  </a:t>
            </a:r>
            <a:r>
              <a:rPr sz="1700">
                <a:solidFill>
                  <a:srgbClr val="0E4377"/>
                </a:solidFill>
                <a:latin typeface="Calibri"/>
              </a:rPr>
              <a:t>Solde T − CR et solde au départ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2FB5B4"/>
                </a:solidFill>
                <a:latin typeface="Calibri"/>
              </a:rPr>
              <a:t>✔  </a:t>
            </a:r>
            <a:r>
              <a:rPr sz="1700">
                <a:solidFill>
                  <a:srgbClr val="0E4377"/>
                </a:solidFill>
                <a:latin typeface="Calibri"/>
              </a:rPr>
              <a:t>Rotation par agent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2FB5B4"/>
                </a:solidFill>
                <a:latin typeface="Calibri"/>
              </a:rPr>
              <a:t>✔  </a:t>
            </a:r>
            <a:r>
              <a:rPr sz="1700">
                <a:solidFill>
                  <a:srgbClr val="0E4377"/>
                </a:solidFill>
                <a:latin typeface="Calibri"/>
              </a:rPr>
              <a:t>Modification de plusieurs agents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2FB5B4"/>
                </a:solidFill>
                <a:latin typeface="Calibri"/>
              </a:rPr>
              <a:t>✔  </a:t>
            </a:r>
            <a:r>
              <a:rPr sz="1700">
                <a:solidFill>
                  <a:srgbClr val="0E4377"/>
                </a:solidFill>
                <a:latin typeface="Calibri"/>
              </a:rPr>
              <a:t>Matériel mis à disposition (camions, 4x4…)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2FB5B4"/>
                </a:solidFill>
                <a:latin typeface="Calibri"/>
              </a:rPr>
              <a:t>✔  </a:t>
            </a:r>
            <a:r>
              <a:rPr sz="1700">
                <a:solidFill>
                  <a:srgbClr val="0E4377"/>
                </a:solidFill>
                <a:latin typeface="Calibri"/>
              </a:rPr>
              <a:t>Aide intégrée en 3 langues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1">
                <a:solidFill>
                  <a:srgbClr val="2FB5B4"/>
                </a:solidFill>
                <a:latin typeface="Calibri"/>
              </a:rPr>
              <a:t>✔  </a:t>
            </a:r>
            <a:r>
              <a:rPr sz="1700">
                <a:solidFill>
                  <a:srgbClr val="0E4377"/>
                </a:solidFill>
                <a:latin typeface="Calibri"/>
              </a:rPr>
              <a:t>Demandes regroupées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2FB5B4"/>
                </a:solidFill>
                <a:latin typeface="Calibri"/>
              </a:rPr>
              <a:t>✔  </a:t>
            </a:r>
            <a:r>
              <a:rPr sz="1700">
                <a:solidFill>
                  <a:srgbClr val="0E4377"/>
                </a:solidFill>
                <a:latin typeface="Calibri"/>
              </a:rPr>
              <a:t>Date de reprise calculée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2FB5B4"/>
                </a:solidFill>
                <a:latin typeface="Calibri"/>
              </a:rPr>
              <a:t>✔  </a:t>
            </a:r>
            <a:r>
              <a:rPr sz="1700">
                <a:solidFill>
                  <a:srgbClr val="0E4377"/>
                </a:solidFill>
                <a:latin typeface="Calibri"/>
              </a:rPr>
              <a:t>Documents rangés et renommés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2FB5B4"/>
                </a:solidFill>
                <a:latin typeface="Calibri"/>
              </a:rPr>
              <a:t>✔  </a:t>
            </a:r>
            <a:r>
              <a:rPr sz="1700">
                <a:solidFill>
                  <a:srgbClr val="0E4377"/>
                </a:solidFill>
                <a:latin typeface="Calibri"/>
              </a:rPr>
              <a:t>Accès par e-mail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2FB5B4"/>
                </a:solidFill>
                <a:latin typeface="Calibri"/>
              </a:rPr>
              <a:t>✔  </a:t>
            </a:r>
            <a:r>
              <a:rPr sz="1700">
                <a:solidFill>
                  <a:srgbClr val="0E4377"/>
                </a:solidFill>
                <a:latin typeface="Calibri"/>
              </a:rPr>
              <a:t>Pastilles et notifications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2FB5B4"/>
                </a:solidFill>
                <a:latin typeface="Calibri"/>
              </a:rPr>
              <a:t>✔  </a:t>
            </a:r>
            <a:r>
              <a:rPr sz="1700">
                <a:solidFill>
                  <a:srgbClr val="0E4377"/>
                </a:solidFill>
                <a:latin typeface="Calibri"/>
              </a:rPr>
              <a:t>Lecture du bordereau des prix (OCR)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2FB5B4"/>
                </a:solidFill>
                <a:latin typeface="Calibri"/>
              </a:rPr>
              <a:t>✔  </a:t>
            </a:r>
            <a:r>
              <a:rPr sz="1700">
                <a:solidFill>
                  <a:srgbClr val="0E4377"/>
                </a:solidFill>
                <a:latin typeface="Calibri"/>
              </a:rPr>
              <a:t>Effectifs bornés par le contrat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2FB5B4"/>
                </a:solidFill>
                <a:latin typeface="Calibri"/>
              </a:rPr>
              <a:t>✔  </a:t>
            </a:r>
            <a:r>
              <a:rPr sz="1700">
                <a:solidFill>
                  <a:srgbClr val="0E4377"/>
                </a:solidFill>
                <a:latin typeface="Calibri"/>
              </a:rPr>
              <a:t>Compte client et remarques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1">
                <a:solidFill>
                  <a:srgbClr val="2FB5B4"/>
                </a:solidFill>
                <a:latin typeface="Calibri"/>
              </a:rPr>
              <a:t>✔  </a:t>
            </a:r>
            <a:r>
              <a:rPr sz="1700">
                <a:solidFill>
                  <a:srgbClr val="0E4377"/>
                </a:solidFill>
                <a:latin typeface="Calibri"/>
              </a:rPr>
              <a:t>Attachement figé puis facture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2FB5B4"/>
                </a:solidFill>
                <a:latin typeface="Calibri"/>
              </a:rPr>
              <a:t>✔  </a:t>
            </a:r>
            <a:r>
              <a:rPr sz="1700">
                <a:solidFill>
                  <a:srgbClr val="0E4377"/>
                </a:solidFill>
                <a:latin typeface="Calibri"/>
              </a:rPr>
              <a:t>Historique et reste à facturer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2FB5B4"/>
                </a:solidFill>
                <a:latin typeface="Calibri"/>
              </a:rPr>
              <a:t>✔  </a:t>
            </a:r>
            <a:r>
              <a:rPr sz="1700">
                <a:solidFill>
                  <a:srgbClr val="0E4377"/>
                </a:solidFill>
                <a:latin typeface="Calibri"/>
              </a:rPr>
              <a:t>Fiche de pointage Excel / PDF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2FB5B4"/>
                </a:solidFill>
                <a:latin typeface="Calibri"/>
              </a:rPr>
              <a:t>✔  </a:t>
            </a:r>
            <a:r>
              <a:rPr sz="1700">
                <a:solidFill>
                  <a:srgbClr val="0E4377"/>
                </a:solidFill>
                <a:latin typeface="Calibri"/>
              </a:rPr>
              <a:t>Export et import Excel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2FB5B4"/>
                </a:solidFill>
                <a:latin typeface="Calibri"/>
              </a:rPr>
              <a:t>✔  </a:t>
            </a:r>
            <a:r>
              <a:rPr sz="1700">
                <a:solidFill>
                  <a:srgbClr val="0E4377"/>
                </a:solidFill>
                <a:latin typeface="Calibri"/>
              </a:rPr>
              <a:t>Sauvegarde et restauration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2FB5B4"/>
                </a:solidFill>
                <a:latin typeface="Calibri"/>
              </a:rPr>
              <a:t>✔  </a:t>
            </a:r>
            <a:r>
              <a:rPr sz="1700">
                <a:solidFill>
                  <a:srgbClr val="0E4377"/>
                </a:solidFill>
                <a:latin typeface="Calibri"/>
              </a:rPr>
              <a:t>Mode sombre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2FB5B4"/>
                </a:solidFill>
                <a:latin typeface="Calibri"/>
              </a:rPr>
              <a:t>✔  </a:t>
            </a:r>
            <a:r>
              <a:rPr sz="1700">
                <a:solidFill>
                  <a:srgbClr val="0E4377"/>
                </a:solidFill>
                <a:latin typeface="Calibri"/>
              </a:rPr>
              <a:t>Installable sur téléphone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2FB5B4"/>
                </a:solidFill>
                <a:latin typeface="Calibri"/>
              </a:rPr>
              <a:t>✔  </a:t>
            </a:r>
            <a:r>
              <a:rPr sz="1700">
                <a:solidFill>
                  <a:srgbClr val="0E4377"/>
                </a:solidFill>
                <a:latin typeface="Calibri"/>
              </a:rPr>
              <a:t>Charte de confidentialité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B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 i="0">
                <a:solidFill>
                  <a:srgbClr val="0E4377"/>
                </a:solidFill>
                <a:latin typeface="Calibri"/>
              </a:rPr>
              <a:t>Prêt en trois étapes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6B7785"/>
                </a:solidFill>
                <a:latin typeface="Calibri"/>
              </a:rPr>
              <a:t>Du premier essai au premier pointage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© 2026 JawlaDev — Tous droits réservés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61188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246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E4377"/>
                </a:solidFill>
                <a:latin typeface="Calibri"/>
              </a:rPr>
              <a:t>1. Demandez votre essai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3246120" cy="2468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12263A"/>
                </a:solidFill>
                <a:latin typeface="Calibri"/>
              </a:rPr>
              <a:t>Un formulaire sur la page d'accueil. Votre espace est créé et les accès vous sont envoyés par e-mail.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61188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965960"/>
            <a:ext cx="3246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E4377"/>
                </a:solidFill>
                <a:latin typeface="Calibri"/>
              </a:rPr>
              <a:t>2. Déposez votre contrat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514600"/>
            <a:ext cx="3246120" cy="2468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12263A"/>
                </a:solidFill>
                <a:latin typeface="Calibri"/>
              </a:rPr>
              <a:t>Le bordereau des prix est lu automatiquement. Ajoutez vos agents : leurs accès partent par e-mail.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828800"/>
            <a:ext cx="361188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965960"/>
            <a:ext cx="3246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E4377"/>
                </a:solidFill>
                <a:latin typeface="Calibri"/>
              </a:rPr>
              <a:t>3. Pointez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514600"/>
            <a:ext cx="3246120" cy="2468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12263A"/>
                </a:solidFill>
                <a:latin typeface="Calibri"/>
              </a:rPr>
              <a:t>Dès le premier jour. Les prévisions, les soldes et les vues se calculent seuls.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16598D"/>
                </a:solidFill>
                <a:latin typeface="Calibri"/>
              </a:rPr>
              <a:t>Besoin de reprendre un historique ? Importez vos fichiers Excel : un mois par onglet.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sijil-symb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822960"/>
            <a:ext cx="1833796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0"/>
            <a:ext cx="112471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Sijil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600" b="1" i="0">
                <a:solidFill>
                  <a:srgbClr val="2FB5B4"/>
                </a:solidFill>
                <a:latin typeface="Calibri"/>
              </a:rPr>
              <a:t>Gestion du temps de travail et des rotations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937760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Demandez votre essai gratuit depuis la page d'accueil.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B8C8D8"/>
                </a:solidFill>
                <a:latin typeface="Calibri"/>
              </a:rPr>
              <a:t>© 2026 JawlaDev — Tous droits réservés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