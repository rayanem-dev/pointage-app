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E4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ijil-comp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864244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1463040"/>
            <a:ext cx="65836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0E4377"/>
                </a:solidFill>
                <a:latin typeface="Calibri"/>
              </a:rPr>
              <a:t>Gestion du temps de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7432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FB5B4"/>
                </a:solidFill>
                <a:latin typeface="Calibri"/>
              </a:rPr>
              <a:t>avec prise en charge des rotations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383280"/>
            <a:ext cx="6400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2263A"/>
                </a:solidFill>
                <a:latin typeface="Calibri"/>
              </a:rPr>
              <a:t>La mise à disposition du personnel et du matériel de prestation de services, de A à Z : du bordereau des prix jusqu'à l'attachement et à la facture (module facturation activable par l'administrateur).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9377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6598D"/>
                </a:solidFill>
                <a:latin typeface="Calibri"/>
              </a:rPr>
              <a:t>En français, en arabe et en anglais · sur ordinateur et sur téléphone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0350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Version 3.41.0 · Octobre 2026 · Captures : entreprise fictive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Un personnel en rotation, c'est vite le désordre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Fichiers Excel, messages, papiers : chacun a sa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jours oubliés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On pointe quand on peut. Au moment de facturer, il manque des jours et personne ne sait lesquels.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calculs à la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Soldes de congé, dates de reprise, quantités de l'attachement : chaque calcul est une occasion d'erreur.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documents perdus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Fiches de paie, titres de congé, attestations : dans une boîte mail, un dossier, un téléphone…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Un client dans le flou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3200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Il demande « qui était présent mardi ? » et attend une réponse par 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1605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297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demandes éparpillées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46320"/>
            <a:ext cx="3200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Chaque agent écrit à son responsable, qui relaie à la direction, sans suivi.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605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prévisions impossibles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46320"/>
            <a:ext cx="3200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Qui part en congé le mois prochain ? Qui reprend ? Il faut tout recompter.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Sijil : un seul outil, simple, pour tout le monde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Chacun voit ce qui le concerne, rien de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2-global-m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457603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Un pointage lisible</a:t>
            </a:r>
            <a:r>
              <a:rPr sz="1600">
                <a:solidFill>
                  <a:srgbClr val="12263A"/>
                </a:solidFill>
                <a:latin typeface="Calibri"/>
              </a:rPr>
              <a:t> — vert, orange, rouge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Des prévisions</a:t>
            </a:r>
            <a:r>
              <a:rPr sz="1600">
                <a:solidFill>
                  <a:srgbClr val="12263A"/>
                </a:solidFill>
                <a:latin typeface="Calibri"/>
              </a:rPr>
              <a:t> — calculées toutes seules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Un solde</a:t>
            </a:r>
            <a:r>
              <a:rPr sz="1600">
                <a:solidFill>
                  <a:srgbClr val="12263A"/>
                </a:solidFill>
                <a:latin typeface="Calibri"/>
              </a:rPr>
              <a:t> — à jour en temps réel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Un client informé</a:t>
            </a:r>
            <a:r>
              <a:rPr sz="1600">
                <a:solidFill>
                  <a:srgbClr val="12263A"/>
                </a:solidFill>
                <a:latin typeface="Calibri"/>
              </a:rPr>
              <a:t> — sans rien demander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De A à Z : du bordereau des prix à la facture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Sijil gère la mise à disposition du personnel et du matériel de prestation de services, avec les rotations, de bout en 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828800"/>
            <a:ext cx="1783080" cy="914400"/>
          </a:xfrm>
          <a:prstGeom prst="homePlate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Bordereau des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Déposé et lu automatiquement : fonctions, nombres, délais, prix</a:t>
            </a:r>
          </a:p>
        </p:txBody>
      </p:sp>
      <p:sp>
        <p:nvSpPr>
          <p:cNvPr id="10" name="Pentagon 9"/>
          <p:cNvSpPr/>
          <p:nvPr/>
        </p:nvSpPr>
        <p:spPr>
          <a:xfrm>
            <a:off x="2441448" y="1828800"/>
            <a:ext cx="1783080" cy="914400"/>
          </a:xfrm>
          <a:prstGeom prst="homePlate">
            <a:avLst/>
          </a:prstGeom>
          <a:solidFill>
            <a:srgbClr val="165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Contrat et effectifs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Début, durée, fin ; effectifs bornés par le contrat</a:t>
            </a:r>
          </a:p>
        </p:txBody>
      </p:sp>
      <p:sp>
        <p:nvSpPr>
          <p:cNvPr id="13" name="Pentagon 12"/>
          <p:cNvSpPr/>
          <p:nvPr/>
        </p:nvSpPr>
        <p:spPr>
          <a:xfrm>
            <a:off x="4334255" y="1828800"/>
            <a:ext cx="1783080" cy="914400"/>
          </a:xfrm>
          <a:prstGeom prst="homePlate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Agents et véhicules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Affectés au contrat, accès envoyés par e-mail</a:t>
            </a:r>
          </a:p>
        </p:txBody>
      </p:sp>
      <p:sp>
        <p:nvSpPr>
          <p:cNvPr id="16" name="Pentagon 15"/>
          <p:cNvSpPr/>
          <p:nvPr/>
        </p:nvSpPr>
        <p:spPr>
          <a:xfrm>
            <a:off x="6227063" y="1828800"/>
            <a:ext cx="1783080" cy="914400"/>
          </a:xfrm>
          <a:prstGeom prst="homePlate">
            <a:avLst/>
          </a:prstGeom>
          <a:solidFill>
            <a:srgbClr val="165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5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4. Pointage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3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Jour après jour, avec prévisions, congés, soldes et documents</a:t>
            </a:r>
          </a:p>
        </p:txBody>
      </p:sp>
      <p:sp>
        <p:nvSpPr>
          <p:cNvPr id="19" name="Pentagon 18"/>
          <p:cNvSpPr/>
          <p:nvPr/>
        </p:nvSpPr>
        <p:spPr>
          <a:xfrm>
            <a:off x="8119871" y="1828800"/>
            <a:ext cx="1783080" cy="914400"/>
          </a:xfrm>
          <a:prstGeom prst="homePlate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5. Attachement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Édité sur les jours pointés, puis validé et figé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1828800"/>
            <a:ext cx="1783080" cy="914400"/>
          </a:xfrm>
          <a:prstGeom prst="roundRect">
            <a:avLst/>
          </a:prstGeom>
          <a:solidFill>
            <a:srgbClr val="165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5832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6. Facture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Établie à partir de l'attachement validé, avec l'historique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Un seul outil, une seule saisie : le bordereau des prix lu au départ alimente le contrat, les effectifs, le pointage, l'attachement et la facture.</a:t>
            </a:r>
          </a:p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Le client suit le pointage et laisse ses remarques ; vos données restent dans votre classeur Google.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Quatre profils, quatre espaces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Chaque personne retrouve l'essentiel dès l'ouverture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6598D"/>
                </a:solidFill>
                <a:latin typeface="Calibri"/>
              </a:rPr>
              <a:t>L'agent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Sa situation du jour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Son solde au départ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Son pointage sur 1 an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Ses demandes et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Le responsable d’équipe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Pointe son équipe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Traite les demandes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Dépose les documents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Gère ses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L'administrateur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Contrats et bordereaux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Attachements et factures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Export, import, sauvegarde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Réglages de l'entreprise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2FB5B4"/>
                </a:solidFill>
                <a:latin typeface="Calibri"/>
              </a:rPr>
              <a:t>Le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Consulte le pointage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Voit contrat et factures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Laisse des remarques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Ne modifie rien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Pointer en un clic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T, R, ABS : sur un jour, sur une période, ou directement dans la grille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0-po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457603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Prévisions</a:t>
            </a:r>
            <a:r>
              <a:rPr sz="1500">
                <a:solidFill>
                  <a:srgbClr val="12263A"/>
                </a:solidFill>
                <a:latin typeface="Calibri"/>
              </a:rPr>
              <a:t> — dès le premier pointage, selon la rotation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Rotation par agent</a:t>
            </a:r>
            <a:r>
              <a:rPr sz="1500">
                <a:solidFill>
                  <a:srgbClr val="12263A"/>
                </a:solidFill>
                <a:latin typeface="Calibri"/>
              </a:rPr>
              <a:t> — 28/28, 14/14, 21/21, 6/2, 3/3…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Un pointage réel</a:t>
            </a:r>
            <a:r>
              <a:rPr sz="1500">
                <a:solidFill>
                  <a:srgbClr val="12263A"/>
                </a:solidFill>
                <a:latin typeface="Calibri"/>
              </a:rPr>
              <a:t> — n'est jamais écrasé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Véhicules</a:t>
            </a:r>
            <a:r>
              <a:rPr sz="1500">
                <a:solidFill>
                  <a:srgbClr val="12263A"/>
                </a:solidFill>
                <a:latin typeface="Calibri"/>
              </a:rPr>
              <a:t> — pointés comme des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Vous avez oublié de pointer ? Un bouton suffit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« Copier le dernier pointage » rattrape les jours manquants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1-compl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457603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Agents cochés</a:t>
            </a:r>
            <a:r>
              <a:rPr sz="1500">
                <a:solidFill>
                  <a:srgbClr val="12263A"/>
                </a:solidFill>
                <a:latin typeface="Calibri"/>
              </a:rPr>
              <a:t> — ou tous en une case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Dernier statut recopié</a:t>
            </a:r>
            <a:r>
              <a:rPr sz="1500">
                <a:solidFill>
                  <a:srgbClr val="12263A"/>
                </a:solidFill>
                <a:latin typeface="Calibri"/>
              </a:rPr>
              <a:t> — jusqu'à aujourd'hui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Résumé avant d'écrire</a:t>
            </a:r>
            <a:r>
              <a:rPr sz="1500">
                <a:solidFill>
                  <a:srgbClr val="12263A"/>
                </a:solidFill>
                <a:latin typeface="Calibri"/>
              </a:rPr>
              <a:t> — rien de caché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Jours déjà pointés</a:t>
            </a:r>
            <a:r>
              <a:rPr sz="1500">
                <a:solidFill>
                  <a:srgbClr val="12263A"/>
                </a:solidFill>
                <a:latin typeface="Calibri"/>
              </a:rPr>
              <a:t> — jamais remplacés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Voir loin : 3 mois, 6 mois, 1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Les départs, les reprises et les fêtes, en un coup d'œil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4-vue-1-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863840" cy="4741432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7373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Jours fériés algériens</a:t>
            </a:r>
            <a:r>
              <a:rPr sz="1500">
                <a:solidFill>
                  <a:srgbClr val="12263A"/>
                </a:solidFill>
                <a:latin typeface="Calibri"/>
              </a:rPr>
              <a:t> — fêtes nationales et religieuses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Jour courant</a:t>
            </a:r>
            <a:r>
              <a:rPr sz="1500">
                <a:solidFill>
                  <a:srgbClr val="12263A"/>
                </a:solidFill>
                <a:latin typeface="Calibri"/>
              </a:rPr>
              <a:t> — repéré, la grille s'y place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Totaux T, CR, ABS</a:t>
            </a:r>
            <a:r>
              <a:rPr sz="1500">
                <a:solidFill>
                  <a:srgbClr val="12263A"/>
                </a:solidFill>
                <a:latin typeface="Calibri"/>
              </a:rPr>
              <a:t> — et solde cumulé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Dates religieuses</a:t>
            </a:r>
            <a:r>
              <a:rPr sz="1500">
                <a:solidFill>
                  <a:srgbClr val="12263A"/>
                </a:solidFill>
                <a:latin typeface="Calibri"/>
              </a:rPr>
              <a:t> — corrigeables en 2 clics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L'agent sait toujours où il en 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Plus besoin d'appeler pour demander son solde ou sa date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60-agent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766560" cy="4079837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93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63040"/>
            <a:ext cx="2318004" cy="475488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058400" y="2103120"/>
            <a:ext cx="20116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0E4377"/>
                </a:solidFill>
                <a:latin typeface="Calibri"/>
              </a:rPr>
              <a:t>« Le jour de votre départ, votre solde sera de +43 jours.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Demandes et documents, sans courir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Du titre de congé à la fiche de paie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70-demandes-ch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64-documents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Demandes regroupées par thème</a:t>
            </a:r>
            <a:r>
              <a:rPr sz="1400">
                <a:solidFill>
                  <a:srgbClr val="12263A"/>
                </a:solidFill>
                <a:latin typeface="Calibri"/>
              </a:rPr>
              <a:t> — une seule demande part à la direction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Date de reprise calculée</a:t>
            </a:r>
            <a:r>
              <a:rPr sz="1400">
                <a:solidFill>
                  <a:srgbClr val="12263A"/>
                </a:solidFill>
                <a:latin typeface="Calibri"/>
              </a:rPr>
              <a:t> — départ + durée du 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Documents rangés tout seuls</a:t>
            </a:r>
            <a:r>
              <a:rPr sz="1400">
                <a:solidFill>
                  <a:srgbClr val="12263A"/>
                </a:solidFill>
                <a:latin typeface="Calibri"/>
              </a:rPr>
              <a:t> — type, période, nom, dossier Drive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Pastille et e-mail</a:t>
            </a:r>
            <a:r>
              <a:rPr sz="1400">
                <a:solidFill>
                  <a:srgbClr val="12263A"/>
                </a:solidFill>
                <a:latin typeface="Calibri"/>
              </a:rPr>
              <a:t> — l'agent est prévenu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Du contrat à la facture, sans ressaisie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Le bordereau des prix se lit tout seul, le reste en découle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40a-contr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035040" cy="457065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Bordereau des prix lu automatiquement</a:t>
            </a:r>
            <a:r>
              <a:rPr sz="1500">
                <a:solidFill>
                  <a:srgbClr val="12263A"/>
                </a:solidFill>
                <a:latin typeface="Calibri"/>
              </a:rPr>
              <a:t> — PDF scanné, photo, Excel, CSV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Contrat complet</a:t>
            </a:r>
            <a:r>
              <a:rPr sz="1500">
                <a:solidFill>
                  <a:srgbClr val="12263A"/>
                </a:solidFill>
                <a:latin typeface="Calibri"/>
              </a:rPr>
              <a:t> — début, durée, fin visibles de tous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Effectifs bornés</a:t>
            </a:r>
            <a:r>
              <a:rPr sz="1500">
                <a:solidFill>
                  <a:srgbClr val="12263A"/>
                </a:solidFill>
                <a:latin typeface="Calibri"/>
              </a:rPr>
              <a:t> — voyant complet / manque / dépassé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Historique</a:t>
            </a:r>
            <a:r>
              <a:rPr sz="1500">
                <a:solidFill>
                  <a:srgbClr val="12263A"/>
                </a:solidFill>
                <a:latin typeface="Calibri"/>
              </a:rPr>
              <a:t> — par fonction, avec le reste à facturer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Attachement et facture, sur les jours pointés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Validez : le mois est figé. Ensuite, la facture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50-ex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43600" cy="454510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7373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Fiche de pointage</a:t>
            </a:r>
            <a:r>
              <a:rPr sz="1500">
                <a:solidFill>
                  <a:srgbClr val="12263A"/>
                </a:solidFill>
                <a:latin typeface="Calibri"/>
              </a:rPr>
              <a:t> — Excel et PDF du mois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Attachement</a:t>
            </a:r>
            <a:r>
              <a:rPr sz="1500">
                <a:solidFill>
                  <a:srgbClr val="12263A"/>
                </a:solidFill>
                <a:latin typeface="Calibri"/>
              </a:rPr>
              <a:t> — quantités sur les jours T pointés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Validation</a:t>
            </a:r>
            <a:r>
              <a:rPr sz="1500">
                <a:solidFill>
                  <a:srgbClr val="12263A"/>
                </a:solidFill>
                <a:latin typeface="Calibri"/>
              </a:rPr>
              <a:t> — mêmes quantités, mêmes prix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Facture</a:t>
            </a:r>
            <a:r>
              <a:rPr sz="1500">
                <a:solidFill>
                  <a:srgbClr val="12263A"/>
                </a:solidFill>
                <a:latin typeface="Calibri"/>
              </a:rPr>
              <a:t> — numéro, date, PDF et Excel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Brouillon du mois suivant</a:t>
            </a:r>
            <a:r>
              <a:rPr sz="1500">
                <a:solidFill>
                  <a:srgbClr val="12263A"/>
                </a:solidFill>
                <a:latin typeface="Calibri"/>
              </a:rPr>
              <a:t> — à titre indicatif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Votre client suit, et vous répond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Un compte de consultation créé tout seul, limité à son contrat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81-client-rema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83-remarque-prestat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Un clic sur un jour</a:t>
            </a:r>
            <a:r>
              <a:rPr sz="1400">
                <a:solidFill>
                  <a:srgbClr val="12263A"/>
                </a:solidFill>
                <a:latin typeface="Calibri"/>
              </a:rPr>
              <a:t> — le client laisse sa remarque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Il ne modifie rien</a:t>
            </a:r>
            <a:r>
              <a:rPr sz="1400">
                <a:solidFill>
                  <a:srgbClr val="12263A"/>
                </a:solidFill>
                <a:latin typeface="Calibri"/>
              </a:rPr>
              <a:t> — lecture seule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Repère rouge dans la grille</a:t>
            </a:r>
            <a:r>
              <a:rPr sz="1400">
                <a:solidFill>
                  <a:srgbClr val="12263A"/>
                </a:solidFill>
                <a:latin typeface="Calibri"/>
              </a:rPr>
              <a:t> — et e-mail au responsable d’équipe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« Vu » et réponse</a:t>
            </a:r>
            <a:r>
              <a:rPr sz="1400">
                <a:solidFill>
                  <a:srgbClr val="12263A"/>
                </a:solidFill>
                <a:latin typeface="Calibri"/>
              </a:rPr>
              <a:t> — le client voit la réponse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Tout le monde est prévenu au bon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Pastilles, messages à l'écran et e-mails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Nouveau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Pastille « Mes documents », message à l'écran et e-mail avec le nom du fichier.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Nouvelle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Le responsable d’équipe est prévenu avec les dates et la date de reprise.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Nouvelle remarque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Le responsable d’équipe voit la pastille et reçoit la remarque du client.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Accès envoyés par e-mail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51206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À la création d'un agent, ou à tout moment : lien, identifiant et mot de passe provisoire.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5196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Demandes groupées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Une seule demande par e-mail à la direction, avec la réponse appliquée à toutes.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Français, arabe, anglais — et mode sombre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Chacun travaille dans sa langue, de droite à gauche en arabe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92-ar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91-mode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0E4377"/>
                </a:solidFill>
                <a:latin typeface="Calibri"/>
              </a:rPr>
              <a:t>Application installable sur téléphone, en plein écran.</a:t>
            </a:r>
          </a:p>
          <a:p>
            <a:pPr algn="l"/>
            <a:r>
              <a:rPr sz="1800" b="0" i="0">
                <a:solidFill>
                  <a:srgbClr val="0E4377"/>
                </a:solidFill>
                <a:latin typeface="Calibri"/>
              </a:rPr>
              <a:t>Langue et mode sombre : un petit sélecteur discret en bas à droite.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Vos données restent chez 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Un classeur Google par entreprise, jamais mélangé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Un classeur par entreprise</a:t>
            </a:r>
            <a:r>
              <a:rPr sz="1500">
                <a:solidFill>
                  <a:srgbClr val="12263A"/>
                </a:solidFill>
                <a:latin typeface="Calibri"/>
              </a:rPr>
              <a:t> — vous pouvez l'ouvrir à tout moment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Mots de passe</a:t>
            </a:r>
            <a:r>
              <a:rPr sz="1500">
                <a:solidFill>
                  <a:srgbClr val="12263A"/>
                </a:solidFill>
                <a:latin typeface="Calibri"/>
              </a:rPr>
              <a:t> — jamais stockés en clair, connexions limitées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Droits par profil</a:t>
            </a:r>
            <a:r>
              <a:rPr sz="1500">
                <a:solidFill>
                  <a:srgbClr val="12263A"/>
                </a:solidFill>
                <a:latin typeface="Calibri"/>
              </a:rPr>
              <a:t> — chacun ne voit que son périmètre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Textes saisis</a:t>
            </a:r>
            <a:r>
              <a:rPr sz="1500">
                <a:solidFill>
                  <a:srgbClr val="12263A"/>
                </a:solidFill>
                <a:latin typeface="Calibri"/>
              </a:rPr>
              <a:t> — jamais exécutés comme des formules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Sauvegarde et restauration</a:t>
            </a:r>
            <a:r>
              <a:rPr sz="1500">
                <a:solidFill>
                  <a:srgbClr val="12263A"/>
                </a:solidFill>
                <a:latin typeface="Calibri"/>
              </a:rPr>
              <a:t> — en un clic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Export et import Excel</a:t>
            </a:r>
            <a:r>
              <a:rPr sz="1500">
                <a:solidFill>
                  <a:srgbClr val="12263A"/>
                </a:solidFill>
                <a:latin typeface="Calibri"/>
              </a:rPr>
              <a:t> — vos données ne sont pas prisonnières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Charte de confidentialité</a:t>
            </a:r>
            <a:r>
              <a:rPr sz="1500">
                <a:solidFill>
                  <a:srgbClr val="12263A"/>
                </a:solidFill>
                <a:latin typeface="Calibri"/>
              </a:rPr>
              <a:t> — visible sur chaque page</a:t>
            </a:r>
          </a:p>
        </p:txBody>
      </p:sp>
      <p:pic>
        <p:nvPicPr>
          <p:cNvPr id="8" name="Picture 7" descr="43-setup-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68630" cy="466344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Et ce n'est pas tout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Toutes les fonctions utiles au quotidien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Rattraper les jours oubliés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Vues 1 mois, 3, 6, 12 mois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Jours fériés algériens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Solde T − CR et solde au départ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Rotation par agent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Modification de plusieurs agents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Véhicules mis à disposition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Aide intégrée en 3 langues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Demandes regroupées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Date de reprise calculée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Documents rangés et renommés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Accès par e-mail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Pastilles et notifications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Lecture du bordereau des prix (OCR)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Effectifs bornés par le contrat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Compte client et remarques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Attachement figé puis facture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Historique et reste à facturer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Fiche de pointage Excel / PDF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Export et import Excel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Sauvegarde et restauration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Mode sombre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Installable sur téléphone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Charte de confidentialité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Prêt en trois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Du premier essai au premier pointage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1. Demandez votre essai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461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libri"/>
              </a:rPr>
              <a:t>Un formulaire sur la page d'accueil. Votre espace est créé et les accès vous sont envoyés par e-mail.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2. Déposez votre contrat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2461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libri"/>
              </a:rPr>
              <a:t>Le bordereau des prix est lu automatiquement. Ajoutez vos agents : leurs accès partent par e-mail.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3. Pointez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2461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libri"/>
              </a:rPr>
              <a:t>Dès le premier jour. Les prévisions, les soldes et les vues se calculent seuls.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6598D"/>
                </a:solidFill>
                <a:latin typeface="Calibri"/>
              </a:rPr>
              <a:t>Besoin de reprendre un historique ? Importez vos fichiers Excel : un mois par onglet.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ijil-symb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822960"/>
            <a:ext cx="1833796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Sijil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2FB5B4"/>
                </a:solidFill>
                <a:latin typeface="Calibri"/>
              </a:rPr>
              <a:t>Gestion du temps de travail et des rotations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Demandez votre essai gratuit depuis la page d'accueil.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B8C8D8"/>
                </a:solidFill>
                <a:latin typeface="Calibri"/>
              </a:rPr>
              <a:t>© 2026 JawlaDev —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